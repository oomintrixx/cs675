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8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3"/>
    <p:restoredTop sz="94658"/>
  </p:normalViewPr>
  <p:slideViewPr>
    <p:cSldViewPr snapToGrid="0" snapToObjects="1">
      <p:cViewPr varScale="1">
        <p:scale>
          <a:sx n="152" d="100"/>
          <a:sy n="152" d="100"/>
        </p:scale>
        <p:origin x="14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B6834"/>
                </a:solidFill>
                <a:latin typeface="Arial"/>
              </a:rPr>
              <a:t>CS675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B0B0B"/>
                </a:solidFill>
                <a:latin typeface="Arial"/>
              </a:rPr>
              <a:t>NYC Yellow Taxi Analytics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0B0B0B"/>
                </a:solidFill>
                <a:latin typeface="Arial"/>
              </a:rPr>
              <a:t>at Cloud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2514E"/>
                </a:solidFill>
                <a:latin typeface="Arial"/>
              </a:rPr>
              <a:t>PySpark  ·  AWS Athena  ·  AWS EMR Serverless  ·  Terraform  ·  MLlib  · 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18872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Arial"/>
              </a:rPr>
              <a:t>github.com/oomintrixx/cs675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Arial"/>
              </a:rPr>
              <a:t>Final Demo — August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BACKGROUND  ·  ~45S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Arial"/>
              </a:rPr>
              <a:t>Why This Project — and Why It Needs Cloud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Arial"/>
              </a:rPr>
              <a:t>▸  </a:t>
            </a:r>
            <a:r>
              <a:rPr sz="1650" b="1">
                <a:solidFill>
                  <a:srgbClr val="0B0B0B"/>
                </a:solidFill>
                <a:latin typeface="Arial"/>
              </a:rPr>
              <a:t>Dataset — </a:t>
            </a:r>
            <a:r>
              <a:rPr sz="1650">
                <a:solidFill>
                  <a:srgbClr val="0B0B0B"/>
                </a:solidFill>
                <a:latin typeface="Arial"/>
              </a:rPr>
              <a:t>NYC TLC Yellow Taxi trips, 2019–2022, ~180M rows × 19 columns, public Parquet data from the TLC Open Data portal.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Arial"/>
              </a:rPr>
              <a:t>▸  </a:t>
            </a:r>
            <a:r>
              <a:rPr sz="1650" b="1">
                <a:solidFill>
                  <a:srgbClr val="0B0B0B"/>
                </a:solidFill>
                <a:latin typeface="Arial"/>
              </a:rPr>
              <a:t>The problem — </a:t>
            </a:r>
            <a:r>
              <a:rPr sz="1650">
                <a:solidFill>
                  <a:srgbClr val="0B0B0B"/>
                </a:solidFill>
                <a:latin typeface="Arial"/>
              </a:rPr>
              <a:t>trip-level patterns (demand, revenue, pricing) only become visible at city scale, and 180M rows won't fit in memory on one machine — this needs a distributed pipeline, not a spreadsheet.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650" b="1">
                <a:solidFill>
                  <a:srgbClr val="2A78D6"/>
                </a:solidFill>
                <a:latin typeface="Arial"/>
              </a:rPr>
              <a:t>▸  </a:t>
            </a:r>
            <a:r>
              <a:rPr sz="1650" b="1">
                <a:solidFill>
                  <a:srgbClr val="0B0B0B"/>
                </a:solidFill>
                <a:latin typeface="Arial"/>
              </a:rPr>
              <a:t>The goal — </a:t>
            </a:r>
            <a:r>
              <a:rPr sz="1650">
                <a:solidFill>
                  <a:srgbClr val="0B0B0B"/>
                </a:solidFill>
                <a:latin typeface="Arial"/>
              </a:rPr>
              <a:t>one PySpark codebase that cleans the data, answers 5 analytical questions, trains a revenue-prediction model, and serves it — running unchanged on a 2.5M-row laptop slice and a 180M-row cloud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691640"/>
            <a:ext cx="5120640" cy="443484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87451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5 RESEARCH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331720"/>
            <a:ext cx="45720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236829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33172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0B0B0B"/>
                </a:solidFill>
                <a:latin typeface="Arial"/>
              </a:rPr>
              <a:t>How does demand vary by hour of day and day of week?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3086100"/>
            <a:ext cx="45720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312267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08610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0B0B0B"/>
                </a:solidFill>
                <a:latin typeface="Arial"/>
              </a:rPr>
              <a:t>Which pickup zones generate the most revenue?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3840480"/>
            <a:ext cx="45720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387705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84048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0B0B0B"/>
                </a:solidFill>
                <a:latin typeface="Arial"/>
              </a:rPr>
              <a:t>Do longer trips earn a higher tip percentage?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4594860"/>
            <a:ext cx="45720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463143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59486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0B0B0B"/>
                </a:solidFill>
                <a:latin typeface="Arial"/>
              </a:rPr>
              <a:t>Do short trips cost more per mile than long ones?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5349240"/>
            <a:ext cx="45720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538581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534924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0B0B0B"/>
                </a:solidFill>
                <a:latin typeface="Arial"/>
              </a:rPr>
              <a:t>Does trip demand or fare change on rainy or snowy days? (cross-source join)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PROJECT ORGANIZATION  ·  ~60S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Arial"/>
              </a:rPr>
              <a:t>How the Repo Is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724912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724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Arial"/>
              </a:rPr>
              <a:t>work/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Arial"/>
              </a:rPr>
              <a:t>Local PySpark pipeline (Docker)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7249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2A78D6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01 explore → 02 preprocess → 03 analytics → 04 ml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2A78D6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spark_helper.py, constants.py, ml_features.py, predict_helpers.py — shared helpers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2A78D6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Runs on a 2.5M-row Jan-2022 slice for fast iteration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91640"/>
            <a:ext cx="2724912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724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Arial"/>
              </a:rPr>
              <a:t>cloud/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50008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Arial"/>
              </a:rPr>
              <a:t>Same jobs, S3-scale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34640"/>
            <a:ext cx="27249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EB6834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02_preprocess_cloud.py, 03_analytics_cloud.py, 04_ml_cloud.py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EB6834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Only difference from work/: s3:// paths, no local Spark config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EB6834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emr_job_runner.sh submits each job to EMR Serverless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2724912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724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Arial"/>
              </a:rPr>
              <a:t>infrastructure/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50008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AF7A"/>
                </a:solidFill>
                <a:latin typeface="Arial"/>
              </a:rPr>
              <a:t>Terraform (reproducible)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27249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1BAF7A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main.tf — S3 bucket, Athena workgroup, Glue catalog, EMR Serverless app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1BAF7A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One terraform apply / terraform destroy for the whole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691640"/>
            <a:ext cx="2724912" cy="128016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1920240"/>
            <a:ext cx="2724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Arial"/>
              </a:rPr>
              <a:t>ui/ + tests/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50008"/>
            <a:ext cx="2724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98781"/>
                </a:solidFill>
                <a:latin typeface="Arial"/>
              </a:rPr>
              <a:t>Serving + quality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834640"/>
            <a:ext cx="27249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898781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Streamlit app (predict_app.py) + analytics_section.py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898781"/>
                </a:solidFill>
                <a:latin typeface="Arial"/>
              </a:rPr>
              <a:t>▸  </a:t>
            </a:r>
            <a:r>
              <a:rPr sz="1150">
                <a:solidFill>
                  <a:srgbClr val="0B0B0B"/>
                </a:solidFill>
                <a:latin typeface="Arial"/>
              </a:rPr>
              <a:t>50 pytest unit tests across preprocessing, analytics, ML, and UI helpers (TDD)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2514E"/>
                </a:solidFill>
                <a:latin typeface="Arial"/>
              </a:rPr>
              <a:t>Local → cloud is a path swap, not a rewrite: identical PySpark logic runs on a laptop slice and the full 180M-row dataset.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DEPLOYMENT  ·  ~60S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Arial"/>
              </a:rPr>
              <a:t>What's Actually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Arial"/>
              </a:rPr>
              <a:t>LOCAL DEV (DOCKER)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jupyter/pyspark-notebook (Spark 3.5.0) via docker-compose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Spark UI :4040, History Server :18080, Streamlit :8501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Same volumes mount work/, tests/, data/, ui/, results/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Arial"/>
              </a:rPr>
              <a:t>STREAMLIT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EB6834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"Taxi Fare Predictor" — pick pickup/dropoff zone, distance, hour, day, passengers, payment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EB6834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Serves predicted total_amount from whichever trained model has the lowest RMSE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EB6834"/>
                </a:solidFill>
                <a:latin typeface="Arial"/>
              </a:rPr>
              <a:t>▸  </a:t>
            </a:r>
            <a:r>
              <a:rPr sz="1500">
                <a:solidFill>
                  <a:srgbClr val="0B0B0B"/>
                </a:solidFill>
                <a:latin typeface="Arial"/>
              </a:rPr>
              <a:t>Same page renders the Q1–Q5 analytics results (tables + charts)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Arial"/>
              </a:rPr>
              <a:t>AWS CLOUD (TERRAFORM-PROVISIONED)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48840"/>
            <a:ext cx="155448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48840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Arial"/>
              </a:rPr>
              <a:t>48 Parquet files (2019–2022 raw), preprocessed output, trained models,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155448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Glue + Athena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200400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Arial"/>
              </a:rPr>
              <a:t>SQL catalog and ad-hoc interactive queries directly over S3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251960"/>
            <a:ext cx="155448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29768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EMR Serverless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251960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B0B0B"/>
                </a:solidFill>
                <a:latin typeface="Arial"/>
              </a:rPr>
              <a:t>Spark 3.5 (emr-7.1.0), auto-stop after 15 min idle — runs preprocessing, analytics, and ML at full 180M-row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ANALYTICS  ·  CLOUD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Arial"/>
              </a:rPr>
              <a:t>Analytics at Full Scale — the 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383280" cy="17373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33832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B0B0B"/>
                </a:solidFill>
                <a:latin typeface="Arial"/>
              </a:rPr>
              <a:t>177,171,999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Arial"/>
              </a:rPr>
              <a:t>trips analyzed (post-cleaning)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383280" cy="17373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338328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B0B0B"/>
                </a:solidFill>
                <a:latin typeface="Arial"/>
              </a:rPr>
              <a:t>$2.399B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718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Arial"/>
              </a:rPr>
              <a:t>total fare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383280" cy="173736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383280" cy="508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B0B0B"/>
                </a:solidFill>
                <a:latin typeface="Arial"/>
              </a:rPr>
              <a:t>$13.54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718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Arial"/>
              </a:rPr>
              <a:t>average fare per trip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98781"/>
                </a:solidFill>
                <a:latin typeface="Arial"/>
              </a:rPr>
              <a:t>Computed by cloud/03_analytics_cloud.py on EMR Serverless against the full 2019–2022 dataset in S3.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Arial"/>
              </a:rPr>
              <a:t>Next: run each of the 5 queries and walk through what they show.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ANALYTICS — Q1  ·  ~45S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Arial"/>
              </a:rPr>
              <a:t>Demand by Hour &amp; Day of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3240" y="1666240"/>
            <a:ext cx="7091680" cy="40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q1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783080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One evening peak — </a:t>
            </a:r>
            <a:r>
              <a:rPr sz="1450">
                <a:solidFill>
                  <a:srgbClr val="0B0B0B"/>
                </a:solidFill>
                <a:latin typeface="Arial"/>
              </a:rPr>
              <a:t>both weekday and weekend demand top out at 18:00, not the classic AM/PM commute double-hump.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Weekday-heavy — </a:t>
            </a:r>
            <a:r>
              <a:rPr sz="1450">
                <a:solidFill>
                  <a:srgbClr val="0B0B0B"/>
                </a:solidFill>
                <a:latin typeface="Arial"/>
              </a:rPr>
              <a:t>74% of all trips happen Mon–Fri (130.7M) vs. 26% on weekends (46.5M).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Same shape, different volume — </a:t>
            </a:r>
            <a:r>
              <a:rPr sz="1450">
                <a:solidFill>
                  <a:srgbClr val="0B0B0B"/>
                </a:solidFill>
                <a:latin typeface="Arial"/>
              </a:rPr>
              <a:t>weekend demand follows the same curve at roughly one-third the hourly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623560"/>
            <a:ext cx="3794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98781"/>
                </a:solidFill>
                <a:latin typeface="Arial"/>
              </a:rPr>
              <a:t>Columns: tpep_pickup_datetime → pickup_hour, day_of_week  ·  GROUP BY hour, 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ANALYTICS — Q2  ·  ~45S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Arial"/>
              </a:rPr>
              <a:t>Revenue by Pickup Zone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3240" y="1666240"/>
            <a:ext cx="7091680" cy="40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q2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783080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Airports dominate — </a:t>
            </a:r>
            <a:r>
              <a:rPr sz="1450">
                <a:solidFill>
                  <a:srgbClr val="0B0B0B"/>
                </a:solidFill>
                <a:latin typeface="Arial"/>
              </a:rPr>
              <a:t>JFK and LaGuardia rank #1 and #2 in total revenue despite far fewer trips than the busiest Manhattan zones.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Why — </a:t>
            </a:r>
            <a:r>
              <a:rPr sz="1450">
                <a:solidFill>
                  <a:srgbClr val="0B0B0B"/>
                </a:solidFill>
                <a:latin typeface="Arial"/>
              </a:rPr>
              <a:t>airport trips average $45.73 (JFK) and $30.98 (LGA) per fare — 3–4x the ~$10–12 average of high-volume Manhattan zones.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Takeaway — </a:t>
            </a:r>
            <a:r>
              <a:rPr sz="1450">
                <a:solidFill>
                  <a:srgbClr val="0B0B0B"/>
                </a:solidFill>
                <a:latin typeface="Arial"/>
              </a:rPr>
              <a:t>total revenue tracks fare-per-trip as much as trip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623560"/>
            <a:ext cx="3794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98781"/>
                </a:solidFill>
                <a:latin typeface="Arial"/>
              </a:rPr>
              <a:t>Columns: PULocationID, fare_amount  ·  GROUP BY zone, ORDER BY total_revenue DESC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ANALYTICS — Q3  ·  ~45S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Arial"/>
              </a:rPr>
              <a:t>Tipping Behavior by Trip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3240" y="1666240"/>
            <a:ext cx="7091680" cy="40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q3_t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783080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Tip % falls as distance rises — </a:t>
            </a:r>
            <a:r>
              <a:rPr sz="1450">
                <a:solidFill>
                  <a:srgbClr val="0B0B0B"/>
                </a:solidFill>
                <a:latin typeface="Arial"/>
              </a:rPr>
              <a:t>22.4% (short) → 18.9% (medium) → 16.7% (long).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But tip $ rises — </a:t>
            </a:r>
            <a:r>
              <a:rPr sz="1450">
                <a:solidFill>
                  <a:srgbClr val="0B0B0B"/>
                </a:solidFill>
                <a:latin typeface="Arial"/>
              </a:rPr>
              <a:t>$1.23 → $2.24 → $6.87 — riders tip a smaller share of a bigger fare on long trips.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Takeaway — </a:t>
            </a:r>
            <a:r>
              <a:rPr sz="1450">
                <a:solidFill>
                  <a:srgbClr val="0B0B0B"/>
                </a:solidFill>
                <a:latin typeface="Arial"/>
              </a:rPr>
              <a:t>short-trip riders are proportionally the most generous tippers, even though the dollar amount is smallest.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623560"/>
            <a:ext cx="3794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98781"/>
                </a:solidFill>
                <a:latin typeface="Arial"/>
              </a:rPr>
              <a:t>Columns: trip_distance → distance_bucket, tip_amount, fare_amount  ·  AVG(tip_amount/fare_amount)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ANALYTICS — Q4  ·  ~45S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Arial"/>
              </a:rPr>
              <a:t>Fare Efficiency by Trip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3240" y="1666240"/>
            <a:ext cx="7091680" cy="40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q4_fare_per_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783080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Short trips cost ~6x more per mile — </a:t>
            </a:r>
            <a:r>
              <a:rPr sz="1450">
                <a:solidFill>
                  <a:srgbClr val="0B0B0B"/>
                </a:solidFill>
                <a:latin typeface="Arial"/>
              </a:rPr>
              <a:t>$19.10/mi (short) vs. $3.07/mi (long).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Why — </a:t>
            </a:r>
            <a:r>
              <a:rPr sz="1450">
                <a:solidFill>
                  <a:srgbClr val="0B0B0B"/>
                </a:solidFill>
                <a:latin typeface="Arial"/>
              </a:rPr>
              <a:t>the flat base fare dominates the total on short trips (avg 0.68 mi); long trips (often airport runs, per Q2) amortize it over many more miles (avg 34.8 mi).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Ties back to Q2/Q3 — </a:t>
            </a:r>
            <a:r>
              <a:rPr sz="1450">
                <a:solidFill>
                  <a:srgbClr val="0B0B0B"/>
                </a:solidFill>
                <a:latin typeface="Arial"/>
              </a:rPr>
              <a:t>the same base-fare effect explains both the airport revenue premium and the short-trip tip premium.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623560"/>
            <a:ext cx="3794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98781"/>
                </a:solidFill>
                <a:latin typeface="Arial"/>
              </a:rPr>
              <a:t>Columns: trip_distance → distance_bucket, fare_amount  ·  AVG(fare_amount/trip_distance)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ANALYTICS — Q5  ·  ~45S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Arial"/>
              </a:rPr>
              <a:t>Demand by Weather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3240" y="1666240"/>
            <a:ext cx="7091680" cy="40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q5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0408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783080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Clear days dominate volume — </a:t>
            </a:r>
            <a:r>
              <a:rPr sz="1450">
                <a:solidFill>
                  <a:srgbClr val="0B0B0B"/>
                </a:solidFill>
                <a:latin typeface="Arial"/>
              </a:rPr>
              <a:t>62.5% of trips (110.7M) vs. 34.7% rain (61.4M) and 2.8% snow (5.0M) — NYC simply gets far more rainy days than snowy ones.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Fare and distance drop on snow days, not rise — </a:t>
            </a:r>
            <a:r>
              <a:rPr sz="1450">
                <a:solidFill>
                  <a:srgbClr val="0B0B0B"/>
                </a:solidFill>
                <a:latin typeface="Arial"/>
              </a:rPr>
              <a:t>avg fare $12.65 (snow) vs. $13.57 (clear) / $13.56 (rain); avg distance 3.62mi (snow) vs. 4.47mi (clear) — the opposite of a naive “bad weather costs more” intuition.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Why — </a:t>
            </a:r>
            <a:r>
              <a:rPr sz="1450">
                <a:solidFill>
                  <a:srgbClr val="0B0B0B"/>
                </a:solidFill>
                <a:latin typeface="Arial"/>
              </a:rPr>
              <a:t>snowstorms likely suppress the longest, priciest trips (airport runs, per Q2) more than short local hops, pulling both averages down on snow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623560"/>
            <a:ext cx="3794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98781"/>
                </a:solidFill>
                <a:latin typeface="Arial"/>
              </a:rPr>
              <a:t>Columns: tpep_pickup_datetime → pickup_date, joined to NOAA daily weather (PRCP, SNOW)  ·  broadcast JOIN + GROUP BY weather_condition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ML EXTENSION  ·  +10 BONUS  ·  ~30S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Arial"/>
              </a:rPr>
              <a:t>Predicting Trip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Arial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Target — </a:t>
            </a:r>
            <a:r>
              <a:rPr sz="1450">
                <a:solidFill>
                  <a:srgbClr val="0B0B0B"/>
                </a:solidFill>
                <a:latin typeface="Arial"/>
              </a:rPr>
              <a:t>total_amount (fare + tip + tolls + surcharges) per trip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8 features — </a:t>
            </a:r>
            <a:r>
              <a:rPr sz="1450">
                <a:solidFill>
                  <a:srgbClr val="0B0B0B"/>
                </a:solidFill>
                <a:latin typeface="Arial"/>
              </a:rPr>
              <a:t>trip_distance, pickup_hour, day_of_week, passenger_count, pickup/dropoff zone (StringIndexer), pay_credit_card, pay_cash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A78D6"/>
                </a:solidFill>
                <a:latin typeface="Arial"/>
              </a:rPr>
              <a:t>▸  </a:t>
            </a:r>
            <a:r>
              <a:rPr sz="1450" b="1">
                <a:solidFill>
                  <a:srgbClr val="0B0B0B"/>
                </a:solidFill>
                <a:latin typeface="Arial"/>
              </a:rPr>
              <a:t>3 models compared — </a:t>
            </a:r>
            <a:r>
              <a:rPr sz="1450">
                <a:solidFill>
                  <a:srgbClr val="0B0B0B"/>
                </a:solidFill>
                <a:latin typeface="Arial"/>
              </a:rPr>
              <a:t>Linear Regression (baseline), Gradient Boosted Trees, Random Forest — all trained on an 80/20 split, evaluated with RMSE +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Arial"/>
              </a:rPr>
              <a:t>Winner: Random Forest — RMSE $4.44, R² 0.906 (66% lower RMSE than the linear baseline). The Streamlit UI auto-loads whichever model has the lowest saved RMSE.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1080" y="1666240"/>
            <a:ext cx="5537200" cy="43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486400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Arial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Arial"/>
              </a:rPr>
              <a:t>Summary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Full pipeline, proven at two scales — </a:t>
            </a:r>
            <a:r>
              <a:rPr sz="1600">
                <a:solidFill>
                  <a:srgbClr val="0B0B0B"/>
                </a:solidFill>
                <a:latin typeface="Arial"/>
              </a:rPr>
              <a:t>raw Parquet → cleaned data → 5 analytics queries → ML model → served prediction UI, unchanged between a 2.5M-row laptop run and a 180M-row EMR Serverless run.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Demand is evening-shaped, not commute-shaped — </a:t>
            </a:r>
            <a:r>
              <a:rPr sz="1600">
                <a:solidFill>
                  <a:srgbClr val="0B0B0B"/>
                </a:solidFill>
                <a:latin typeface="Arial"/>
              </a:rPr>
              <a:t>one peak at 18:00 on both weekdays and weekends.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Airport trips drive revenue, not volume — </a:t>
            </a:r>
            <a:r>
              <a:rPr sz="1600">
                <a:solidFill>
                  <a:srgbClr val="0B0B0B"/>
                </a:solidFill>
                <a:latin typeface="Arial"/>
              </a:rPr>
              <a:t>JFK/LGA rank #1/#2 in total revenue on far fewer trips, purely on fare-per-trip.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The flat base fare explains two patterns at once — </a:t>
            </a:r>
            <a:r>
              <a:rPr sz="1600">
                <a:solidFill>
                  <a:srgbClr val="0B0B0B"/>
                </a:solidFill>
                <a:latin typeface="Arial"/>
              </a:rPr>
              <a:t>why short trips tip the highest % and cost the most per mile.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Random Forest cut prediction error by 66%</a:t>
            </a:r>
            <a:r>
              <a:rPr sz="1600">
                <a:solidFill>
                  <a:srgbClr val="0B0B0B"/>
                </a:solidFill>
                <a:latin typeface="Arial"/>
              </a:rPr>
              <a:t> over the linear baseline (RMSE $13.22 → $4.44) and is what actually serves the UI.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≥ 2 course tools satisfied — </a:t>
            </a:r>
            <a:r>
              <a:rPr sz="1600">
                <a:solidFill>
                  <a:srgbClr val="0B0B0B"/>
                </a:solidFill>
                <a:latin typeface="Arial"/>
              </a:rPr>
              <a:t>PySpark, AWS Athena, AWS EMR Serverless, Terraform.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A78D6"/>
                </a:solidFill>
                <a:latin typeface="Arial"/>
              </a:rPr>
              <a:t>▸  </a:t>
            </a:r>
            <a:r>
              <a:rPr sz="1600" b="1">
                <a:solidFill>
                  <a:srgbClr val="0B0B0B"/>
                </a:solidFill>
                <a:latin typeface="Arial"/>
              </a:rPr>
              <a:t>Weather barely moves the needle at full scale — </a:t>
            </a:r>
            <a:r>
              <a:rPr sz="1600">
                <a:solidFill>
                  <a:srgbClr val="0B0B0B"/>
                </a:solidFill>
                <a:latin typeface="Arial"/>
              </a:rPr>
              <a:t>the cross-source join (Q5) shows avg fare/distance flat-to-lower on snow days, not higher, once you have all 177M trips instead of one snowy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B0B0B"/>
                </a:solidFill>
                <a:latin typeface="Arial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Arial"/>
              </a:rPr>
              <a:t>github.com/oomintrixx/cs675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CS675 — NYC Yellow Taxi Analytics at Cloud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1509</Words>
  <Application>Microsoft Macintosh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Alice Chen</cp:lastModifiedBy>
  <cp:revision>2</cp:revision>
  <dcterms:created xsi:type="dcterms:W3CDTF">2013-01-27T09:14:16Z</dcterms:created>
  <dcterms:modified xsi:type="dcterms:W3CDTF">2026-08-01T18:51:53Z</dcterms:modified>
  <cp:category/>
</cp:coreProperties>
</file>