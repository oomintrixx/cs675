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83"/>
    <p:restoredTop sz="94658"/>
  </p:normalViewPr>
  <p:slideViewPr>
    <p:cSldViewPr snapToGrid="0" snapToObjects="1">
      <p:cViewPr varScale="1">
        <p:scale>
          <a:sx n="152" d="100"/>
          <a:sy n="152" d="100"/>
        </p:scale>
        <p:origin x="144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B6834"/>
                </a:solidFill>
                <a:latin typeface="Arial"/>
              </a:rPr>
              <a:t>CS675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14600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0B0B0B"/>
                </a:solidFill>
                <a:latin typeface="Arial"/>
              </a:rPr>
              <a:t>NYC Yellow Taxi Analytics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0B0B0B"/>
                </a:solidFill>
                <a:latin typeface="Arial"/>
              </a:rPr>
              <a:t>at Cloud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52514E"/>
                </a:solidFill>
                <a:latin typeface="Arial"/>
              </a:rPr>
              <a:t>PySpark  ·  AWS Athena  ·  AWS EMR Serverless  ·  Terraform  ·  MLlib  · 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526280"/>
            <a:ext cx="1188720" cy="381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98781"/>
                </a:solidFill>
                <a:latin typeface="Arial"/>
              </a:rPr>
              <a:t>github.com/oomintrixx/cs675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3550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98781"/>
                </a:solidFill>
                <a:latin typeface="Arial"/>
              </a:rPr>
              <a:t>Final Demo — August 1,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98781"/>
                </a:solidFill>
                <a:latin typeface="Arial"/>
              </a:rPr>
              <a:t>BACKGROUND  ·  ~45S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0B0B"/>
                </a:solidFill>
                <a:latin typeface="Arial"/>
              </a:rPr>
              <a:t>Why This Project — and Why It Needs Cloud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005840" cy="381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650" b="1">
                <a:solidFill>
                  <a:srgbClr val="2A78D6"/>
                </a:solidFill>
                <a:latin typeface="Arial"/>
              </a:rPr>
              <a:t>▸  </a:t>
            </a:r>
            <a:r>
              <a:rPr sz="1650" b="1">
                <a:solidFill>
                  <a:srgbClr val="0B0B0B"/>
                </a:solidFill>
                <a:latin typeface="Arial"/>
              </a:rPr>
              <a:t>Dataset — </a:t>
            </a:r>
            <a:r>
              <a:rPr sz="1650">
                <a:solidFill>
                  <a:srgbClr val="0B0B0B"/>
                </a:solidFill>
                <a:latin typeface="Arial"/>
              </a:rPr>
              <a:t>NYC TLC Yellow Taxi trips, 2019–2022, ~180M rows × 19 columns, public Parquet data from the TLC Open Data portal.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650" b="1">
                <a:solidFill>
                  <a:srgbClr val="2A78D6"/>
                </a:solidFill>
                <a:latin typeface="Arial"/>
              </a:rPr>
              <a:t>▸  </a:t>
            </a:r>
            <a:r>
              <a:rPr sz="1650" b="1">
                <a:solidFill>
                  <a:srgbClr val="0B0B0B"/>
                </a:solidFill>
                <a:latin typeface="Arial"/>
              </a:rPr>
              <a:t>The problem — </a:t>
            </a:r>
            <a:r>
              <a:rPr sz="1650">
                <a:solidFill>
                  <a:srgbClr val="0B0B0B"/>
                </a:solidFill>
                <a:latin typeface="Arial"/>
              </a:rPr>
              <a:t>trip-level patterns (demand, revenue, pricing) only become visible at city scale, and 180M rows won't fit in memory on one machine — this needs a distributed pipeline, not a spreadsheet.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650" b="1">
                <a:solidFill>
                  <a:srgbClr val="2A78D6"/>
                </a:solidFill>
                <a:latin typeface="Arial"/>
              </a:rPr>
              <a:t>▸  </a:t>
            </a:r>
            <a:r>
              <a:rPr sz="1650" b="1">
                <a:solidFill>
                  <a:srgbClr val="0B0B0B"/>
                </a:solidFill>
                <a:latin typeface="Arial"/>
              </a:rPr>
              <a:t>The goal — </a:t>
            </a:r>
            <a:r>
              <a:rPr sz="1650">
                <a:solidFill>
                  <a:srgbClr val="0B0B0B"/>
                </a:solidFill>
                <a:latin typeface="Arial"/>
              </a:rPr>
              <a:t>one PySpark codebase that cleans the data, answers 4 analytical questions, trains a revenue-prediction model, and serves it — running unchanged on a 2.5M-row laptop slice and a 180M-row cloud run.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691640"/>
            <a:ext cx="5120640" cy="44348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0" y="1874519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98781"/>
                </a:solidFill>
                <a:latin typeface="Arial"/>
              </a:rPr>
              <a:t>4 RESEARCH QUESTIONS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12280" y="2331720"/>
            <a:ext cx="457200" cy="4572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12280" y="2368296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331720"/>
            <a:ext cx="4023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0B0B0B"/>
                </a:solidFill>
                <a:latin typeface="Arial"/>
              </a:rPr>
              <a:t>How does demand vary by hour of day and day of week?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12280" y="3264408"/>
            <a:ext cx="457200" cy="4572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12280" y="3300984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3264408"/>
            <a:ext cx="4023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0B0B0B"/>
                </a:solidFill>
                <a:latin typeface="Arial"/>
              </a:rPr>
              <a:t>Which pickup zones generate the most revenue?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12280" y="4197096"/>
            <a:ext cx="457200" cy="4572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12280" y="4233672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4197096"/>
            <a:ext cx="4023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0B0B0B"/>
                </a:solidFill>
                <a:latin typeface="Arial"/>
              </a:rPr>
              <a:t>Do longer trips earn a higher tip percentage?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12280" y="5129784"/>
            <a:ext cx="457200" cy="4572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12280" y="5166360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5129784"/>
            <a:ext cx="4023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0B0B0B"/>
                </a:solidFill>
                <a:latin typeface="Arial"/>
              </a:rPr>
              <a:t>Do short trips cost more per mile than long ones?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CS675 — NYC Yellow Taxi Analytics at Cloud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98781"/>
                </a:solidFill>
                <a:latin typeface="Arial"/>
              </a:rPr>
              <a:t>PROJECT ORGANIZATION  ·  ~60S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0B0B"/>
                </a:solidFill>
                <a:latin typeface="Arial"/>
              </a:rPr>
              <a:t>How the Repo Is Organized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005840" cy="381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2724912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27249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B0B0B"/>
                </a:solidFill>
                <a:latin typeface="Arial"/>
              </a:rPr>
              <a:t>work/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50008"/>
            <a:ext cx="27249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A78D6"/>
                </a:solidFill>
                <a:latin typeface="Arial"/>
              </a:rPr>
              <a:t>Local PySpark pipeline (Docker)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272491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2A78D6"/>
                </a:solidFill>
                <a:latin typeface="Arial"/>
              </a:rPr>
              <a:t>▸  </a:t>
            </a:r>
            <a:r>
              <a:rPr sz="1150">
                <a:solidFill>
                  <a:srgbClr val="0B0B0B"/>
                </a:solidFill>
                <a:latin typeface="Arial"/>
              </a:rPr>
              <a:t>01 explore → 02 preprocess → 03 analytics → 04 ml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2A78D6"/>
                </a:solidFill>
                <a:latin typeface="Arial"/>
              </a:rPr>
              <a:t>▸  </a:t>
            </a:r>
            <a:r>
              <a:rPr sz="1150">
                <a:solidFill>
                  <a:srgbClr val="0B0B0B"/>
                </a:solidFill>
                <a:latin typeface="Arial"/>
              </a:rPr>
              <a:t>spark_helper.py, constants.py, ml_features.py, predict_helpers.py — shared helpers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2A78D6"/>
                </a:solidFill>
                <a:latin typeface="Arial"/>
              </a:rPr>
              <a:t>▸  </a:t>
            </a:r>
            <a:r>
              <a:rPr sz="1150">
                <a:solidFill>
                  <a:srgbClr val="0B0B0B"/>
                </a:solidFill>
                <a:latin typeface="Arial"/>
              </a:rPr>
              <a:t>Runs on a 2.5M-row Jan-2022 slice for fast iteration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691640"/>
            <a:ext cx="2724912" cy="12801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1920240"/>
            <a:ext cx="27249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B0B0B"/>
                </a:solidFill>
                <a:latin typeface="Arial"/>
              </a:rPr>
              <a:t>cloud/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350008"/>
            <a:ext cx="27249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B6834"/>
                </a:solidFill>
                <a:latin typeface="Arial"/>
              </a:rPr>
              <a:t>Same jobs, S3-scale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834640"/>
            <a:ext cx="272491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EB6834"/>
                </a:solidFill>
                <a:latin typeface="Arial"/>
              </a:rPr>
              <a:t>▸  </a:t>
            </a:r>
            <a:r>
              <a:rPr sz="1150">
                <a:solidFill>
                  <a:srgbClr val="0B0B0B"/>
                </a:solidFill>
                <a:latin typeface="Arial"/>
              </a:rPr>
              <a:t>02_preprocess_cloud.py, 03_analytics_cloud.py, 04_ml_cloud.py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EB6834"/>
                </a:solidFill>
                <a:latin typeface="Arial"/>
              </a:rPr>
              <a:t>▸  </a:t>
            </a:r>
            <a:r>
              <a:rPr sz="1150">
                <a:solidFill>
                  <a:srgbClr val="0B0B0B"/>
                </a:solidFill>
                <a:latin typeface="Arial"/>
              </a:rPr>
              <a:t>Only difference from work/: s3:// paths, no local Spark config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EB6834"/>
                </a:solidFill>
                <a:latin typeface="Arial"/>
              </a:rPr>
              <a:t>▸  </a:t>
            </a:r>
            <a:r>
              <a:rPr sz="1150">
                <a:solidFill>
                  <a:srgbClr val="0B0B0B"/>
                </a:solidFill>
                <a:latin typeface="Arial"/>
              </a:rPr>
              <a:t>emr_job_runner.sh submits each job to EMR Serverless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691640"/>
            <a:ext cx="2724912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1920240"/>
            <a:ext cx="27249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B0B0B"/>
                </a:solidFill>
                <a:latin typeface="Arial"/>
              </a:rPr>
              <a:t>infrastructure/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350008"/>
            <a:ext cx="27249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BAF7A"/>
                </a:solidFill>
                <a:latin typeface="Arial"/>
              </a:rPr>
              <a:t>Terraform (reproducible)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834640"/>
            <a:ext cx="272491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1BAF7A"/>
                </a:solidFill>
                <a:latin typeface="Arial"/>
              </a:rPr>
              <a:t>▸  </a:t>
            </a:r>
            <a:r>
              <a:rPr sz="1150">
                <a:solidFill>
                  <a:srgbClr val="0B0B0B"/>
                </a:solidFill>
                <a:latin typeface="Arial"/>
              </a:rPr>
              <a:t>main.tf — S3 bucket, Athena workgroup, Glue catalog, EMR Serverless app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1BAF7A"/>
                </a:solidFill>
                <a:latin typeface="Arial"/>
              </a:rPr>
              <a:t>▸  </a:t>
            </a:r>
            <a:r>
              <a:rPr sz="1150">
                <a:solidFill>
                  <a:srgbClr val="0B0B0B"/>
                </a:solidFill>
                <a:latin typeface="Arial"/>
              </a:rPr>
              <a:t>One terraform apply / terraform destroy for the whole stack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1691640"/>
            <a:ext cx="2724912" cy="128016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60" y="1920240"/>
            <a:ext cx="27249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B0B0B"/>
                </a:solidFill>
                <a:latin typeface="Arial"/>
              </a:rPr>
              <a:t>ui/ + tests/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350008"/>
            <a:ext cx="27249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98781"/>
                </a:solidFill>
                <a:latin typeface="Arial"/>
              </a:rPr>
              <a:t>Serving + quality bar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834640"/>
            <a:ext cx="272491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898781"/>
                </a:solidFill>
                <a:latin typeface="Arial"/>
              </a:rPr>
              <a:t>▸  </a:t>
            </a:r>
            <a:r>
              <a:rPr sz="1150">
                <a:solidFill>
                  <a:srgbClr val="0B0B0B"/>
                </a:solidFill>
                <a:latin typeface="Arial"/>
              </a:rPr>
              <a:t>Streamlit app (predict_app.py) + analytics_section.py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898781"/>
                </a:solidFill>
                <a:latin typeface="Arial"/>
              </a:rPr>
              <a:t>▸  </a:t>
            </a:r>
            <a:r>
              <a:rPr sz="1150">
                <a:solidFill>
                  <a:srgbClr val="0B0B0B"/>
                </a:solidFill>
                <a:latin typeface="Arial"/>
              </a:rPr>
              <a:t>42 pytest unit tests across preprocessing, analytics, ML, and UI helpers (TDD)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98932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2514E"/>
                </a:solidFill>
                <a:latin typeface="Arial"/>
              </a:rPr>
              <a:t>Local → cloud is a path swap, not a rewrite: identical PySpark logic runs on a laptop slice and the full 180M-row dataset.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CS675 — NYC Yellow Taxi Analytics at Cloud Scale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98781"/>
                </a:solidFill>
                <a:latin typeface="Arial"/>
              </a:rPr>
              <a:t>DEPLOYMENT  ·  ~60S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0B0B"/>
                </a:solidFill>
                <a:latin typeface="Arial"/>
              </a:rPr>
              <a:t>What's Actually Running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005840" cy="381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A78D6"/>
                </a:solidFill>
                <a:latin typeface="Arial"/>
              </a:rPr>
              <a:t>LOCAL DEV (DOCKER)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394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2A78D6"/>
                </a:solidFill>
                <a:latin typeface="Arial"/>
              </a:rPr>
              <a:t>▸  </a:t>
            </a:r>
            <a:r>
              <a:rPr sz="1500">
                <a:solidFill>
                  <a:srgbClr val="0B0B0B"/>
                </a:solidFill>
                <a:latin typeface="Arial"/>
              </a:rPr>
              <a:t>jupyter/pyspark-notebook (Spark 3.5.0) via docker-compose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2A78D6"/>
                </a:solidFill>
                <a:latin typeface="Arial"/>
              </a:rPr>
              <a:t>▸  </a:t>
            </a:r>
            <a:r>
              <a:rPr sz="1500">
                <a:solidFill>
                  <a:srgbClr val="0B0B0B"/>
                </a:solidFill>
                <a:latin typeface="Arial"/>
              </a:rPr>
              <a:t>Spark UI :4040, History Server :18080, Streamlit :8501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2A78D6"/>
                </a:solidFill>
                <a:latin typeface="Arial"/>
              </a:rPr>
              <a:t>▸  </a:t>
            </a:r>
            <a:r>
              <a:rPr sz="1500">
                <a:solidFill>
                  <a:srgbClr val="0B0B0B"/>
                </a:solidFill>
                <a:latin typeface="Arial"/>
              </a:rPr>
              <a:t>Same volumes mount work/, tests/, data/, ui/, results/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B6834"/>
                </a:solidFill>
                <a:latin typeface="Arial"/>
              </a:rPr>
              <a:t>STREAMLIT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43400"/>
            <a:ext cx="5394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EB6834"/>
                </a:solidFill>
                <a:latin typeface="Arial"/>
              </a:rPr>
              <a:t>▸  </a:t>
            </a:r>
            <a:r>
              <a:rPr sz="1500">
                <a:solidFill>
                  <a:srgbClr val="0B0B0B"/>
                </a:solidFill>
                <a:latin typeface="Arial"/>
              </a:rPr>
              <a:t>"Taxi Fare Predictor" — pick pickup/dropoff zone, distance, hour, day, passengers, payment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EB6834"/>
                </a:solidFill>
                <a:latin typeface="Arial"/>
              </a:rPr>
              <a:t>▸  </a:t>
            </a:r>
            <a:r>
              <a:rPr sz="1500">
                <a:solidFill>
                  <a:srgbClr val="0B0B0B"/>
                </a:solidFill>
                <a:latin typeface="Arial"/>
              </a:rPr>
              <a:t>Serves predicted total_amount from whichever trained model has the lowest RMSE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EB6834"/>
                </a:solidFill>
                <a:latin typeface="Arial"/>
              </a:rPr>
              <a:t>▸  </a:t>
            </a:r>
            <a:r>
              <a:rPr sz="1500">
                <a:solidFill>
                  <a:srgbClr val="0B0B0B"/>
                </a:solidFill>
                <a:latin typeface="Arial"/>
              </a:rPr>
              <a:t>Same page renders the Q1–Q4 analytics results (tables + charts)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91640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AF7A"/>
                </a:solidFill>
                <a:latin typeface="Arial"/>
              </a:rPr>
              <a:t>AWS CLOUD (TERRAFORM-PROVISIONED)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148840"/>
            <a:ext cx="1554480" cy="50292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2194560"/>
            <a:ext cx="1554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148840"/>
            <a:ext cx="3657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B0B0B"/>
                </a:solidFill>
                <a:latin typeface="Arial"/>
              </a:rPr>
              <a:t>48 Parquet files (2019–2022 raw), preprocessed output, trained models,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3200400"/>
            <a:ext cx="1554480" cy="50292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0" y="3246120"/>
            <a:ext cx="1554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Glue + Athena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3200400"/>
            <a:ext cx="3657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B0B0B"/>
                </a:solidFill>
                <a:latin typeface="Arial"/>
              </a:rPr>
              <a:t>SQL catalog and ad-hoc interactive queries directly over S3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4251960"/>
            <a:ext cx="1554480" cy="50292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4297680"/>
            <a:ext cx="1554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EMR Serverless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4251960"/>
            <a:ext cx="3657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B0B0B"/>
                </a:solidFill>
                <a:latin typeface="Arial"/>
              </a:rPr>
              <a:t>Spark 3.5 (emr-7.1.0), auto-stop after 15 min idle — runs preprocessing, analytics, and ML at full 180M-row 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CS675 — NYC Yellow Taxi Analytics at Cloud 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98781"/>
                </a:solidFill>
                <a:latin typeface="Arial"/>
              </a:rPr>
              <a:t>ANALYTICS  ·  CLOUD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0B0B"/>
                </a:solidFill>
                <a:latin typeface="Arial"/>
              </a:rPr>
              <a:t>Analytics at Full Scale — the 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005840" cy="381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3383280" cy="173736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3383280" cy="508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0B0B0B"/>
                </a:solidFill>
                <a:latin typeface="Arial"/>
              </a:rPr>
              <a:t>177,174,900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2514E"/>
                </a:solidFill>
                <a:latin typeface="Arial"/>
              </a:rPr>
              <a:t>trips analyzed (post-cleaning)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1828800"/>
            <a:ext cx="3383280" cy="173736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26280" y="1828800"/>
            <a:ext cx="3383280" cy="508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0B0B0B"/>
                </a:solidFill>
                <a:latin typeface="Arial"/>
              </a:rPr>
              <a:t>$2.399B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971800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2514E"/>
                </a:solidFill>
                <a:latin typeface="Arial"/>
              </a:rPr>
              <a:t>total fare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828800"/>
            <a:ext cx="3383280" cy="173736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0" y="1828800"/>
            <a:ext cx="3383280" cy="508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0" y="214884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0B0B0B"/>
                </a:solidFill>
                <a:latin typeface="Arial"/>
              </a:rPr>
              <a:t>$13.54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971800"/>
            <a:ext cx="3383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2514E"/>
                </a:solidFill>
                <a:latin typeface="Arial"/>
              </a:rPr>
              <a:t>average fare per trip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77639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898781"/>
                </a:solidFill>
                <a:latin typeface="Arial"/>
              </a:rPr>
              <a:t>Computed by cloud/03_analytics_cloud.py on EMR Serverless against the full 2019–2022 dataset in S3.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B0B0B"/>
                </a:solidFill>
                <a:latin typeface="Arial"/>
              </a:rPr>
              <a:t>Next: run each of the 4 queries and walk through what they show.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CS675 — NYC Yellow Taxi Analytics at Cloud 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98781"/>
                </a:solidFill>
                <a:latin typeface="Arial"/>
              </a:rPr>
              <a:t>ANALYTICS — Q1  ·  ~45S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0B0B"/>
                </a:solidFill>
                <a:latin typeface="Arial"/>
              </a:rPr>
              <a:t>Demand by Hour &amp; Day of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005840" cy="381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23240" y="1666240"/>
            <a:ext cx="7091680" cy="4074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q1_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704088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18120" y="1783080"/>
            <a:ext cx="3794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A78D6"/>
                </a:solidFill>
                <a:latin typeface="Arial"/>
              </a:rPr>
              <a:t>▸  </a:t>
            </a:r>
            <a:r>
              <a:rPr sz="1450" b="1">
                <a:solidFill>
                  <a:srgbClr val="0B0B0B"/>
                </a:solidFill>
                <a:latin typeface="Arial"/>
              </a:rPr>
              <a:t>One evening peak — </a:t>
            </a:r>
            <a:r>
              <a:rPr sz="1450">
                <a:solidFill>
                  <a:srgbClr val="0B0B0B"/>
                </a:solidFill>
                <a:latin typeface="Arial"/>
              </a:rPr>
              <a:t>both weekday and weekend demand top out at 18:00, not the classic AM/PM commute double-hump.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A78D6"/>
                </a:solidFill>
                <a:latin typeface="Arial"/>
              </a:rPr>
              <a:t>▸  </a:t>
            </a:r>
            <a:r>
              <a:rPr sz="1450" b="1">
                <a:solidFill>
                  <a:srgbClr val="0B0B0B"/>
                </a:solidFill>
                <a:latin typeface="Arial"/>
              </a:rPr>
              <a:t>Weekday-heavy — </a:t>
            </a:r>
            <a:r>
              <a:rPr sz="1450">
                <a:solidFill>
                  <a:srgbClr val="0B0B0B"/>
                </a:solidFill>
                <a:latin typeface="Arial"/>
              </a:rPr>
              <a:t>74% of all trips happen Mon–Fri (130.7M) vs. 26% on weekends (46.5M).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A78D6"/>
                </a:solidFill>
                <a:latin typeface="Arial"/>
              </a:rPr>
              <a:t>▸  </a:t>
            </a:r>
            <a:r>
              <a:rPr sz="1450" b="1">
                <a:solidFill>
                  <a:srgbClr val="0B0B0B"/>
                </a:solidFill>
                <a:latin typeface="Arial"/>
              </a:rPr>
              <a:t>Same shape, different volume — </a:t>
            </a:r>
            <a:r>
              <a:rPr sz="1450">
                <a:solidFill>
                  <a:srgbClr val="0B0B0B"/>
                </a:solidFill>
                <a:latin typeface="Arial"/>
              </a:rPr>
              <a:t>weekend demand follows the same curve at roughly one-third the hourly volume.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5623560"/>
            <a:ext cx="3794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898781"/>
                </a:solidFill>
                <a:latin typeface="Arial"/>
              </a:rPr>
              <a:t>Columns: tpep_pickup_datetime → pickup_hour, day_of_week  ·  GROUP BY hour, dow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CS675 — NYC Yellow Taxi Analytics at Cloud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98781"/>
                </a:solidFill>
                <a:latin typeface="Arial"/>
              </a:rPr>
              <a:t>ANALYTICS — Q2  ·  ~45S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0B0B"/>
                </a:solidFill>
                <a:latin typeface="Arial"/>
              </a:rPr>
              <a:t>Revenue by Pickup Zone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005840" cy="381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23240" y="1666240"/>
            <a:ext cx="7091680" cy="4074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q2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704088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18120" y="1783080"/>
            <a:ext cx="3794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A78D6"/>
                </a:solidFill>
                <a:latin typeface="Arial"/>
              </a:rPr>
              <a:t>▸  </a:t>
            </a:r>
            <a:r>
              <a:rPr sz="1450" b="1">
                <a:solidFill>
                  <a:srgbClr val="0B0B0B"/>
                </a:solidFill>
                <a:latin typeface="Arial"/>
              </a:rPr>
              <a:t>Airports dominate — </a:t>
            </a:r>
            <a:r>
              <a:rPr sz="1450">
                <a:solidFill>
                  <a:srgbClr val="0B0B0B"/>
                </a:solidFill>
                <a:latin typeface="Arial"/>
              </a:rPr>
              <a:t>JFK and LaGuardia rank #1 and #2 in total revenue despite far fewer trips than the busiest Manhattan zones.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A78D6"/>
                </a:solidFill>
                <a:latin typeface="Arial"/>
              </a:rPr>
              <a:t>▸  </a:t>
            </a:r>
            <a:r>
              <a:rPr sz="1450" b="1">
                <a:solidFill>
                  <a:srgbClr val="0B0B0B"/>
                </a:solidFill>
                <a:latin typeface="Arial"/>
              </a:rPr>
              <a:t>Why — </a:t>
            </a:r>
            <a:r>
              <a:rPr sz="1450">
                <a:solidFill>
                  <a:srgbClr val="0B0B0B"/>
                </a:solidFill>
                <a:latin typeface="Arial"/>
              </a:rPr>
              <a:t>airport trips average $45.73 (JFK) and $30.98 (LGA) per fare — 3–4x the ~$10–12 average of high-volume Manhattan zones.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A78D6"/>
                </a:solidFill>
                <a:latin typeface="Arial"/>
              </a:rPr>
              <a:t>▸  </a:t>
            </a:r>
            <a:r>
              <a:rPr sz="1450" b="1">
                <a:solidFill>
                  <a:srgbClr val="0B0B0B"/>
                </a:solidFill>
                <a:latin typeface="Arial"/>
              </a:rPr>
              <a:t>Takeaway — </a:t>
            </a:r>
            <a:r>
              <a:rPr sz="1450">
                <a:solidFill>
                  <a:srgbClr val="0B0B0B"/>
                </a:solidFill>
                <a:latin typeface="Arial"/>
              </a:rPr>
              <a:t>total revenue tracks fare-per-trip as much as trip volume.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5623560"/>
            <a:ext cx="3794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898781"/>
                </a:solidFill>
                <a:latin typeface="Arial"/>
              </a:rPr>
              <a:t>Columns: PULocationID, fare_amount  ·  GROUP BY zone, ORDER BY total_revenue DESC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CS675 — NYC Yellow Taxi Analytics at Cloud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98781"/>
                </a:solidFill>
                <a:latin typeface="Arial"/>
              </a:rPr>
              <a:t>ANALYTICS — Q3  ·  ~45S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0B0B"/>
                </a:solidFill>
                <a:latin typeface="Arial"/>
              </a:rPr>
              <a:t>Tipping Behavior by Trip Distance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005840" cy="381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23240" y="1666240"/>
            <a:ext cx="7091680" cy="4074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q3_ti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704088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18120" y="1783080"/>
            <a:ext cx="3794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A78D6"/>
                </a:solidFill>
                <a:latin typeface="Arial"/>
              </a:rPr>
              <a:t>▸  </a:t>
            </a:r>
            <a:r>
              <a:rPr sz="1450" b="1">
                <a:solidFill>
                  <a:srgbClr val="0B0B0B"/>
                </a:solidFill>
                <a:latin typeface="Arial"/>
              </a:rPr>
              <a:t>Tip % falls as distance rises — </a:t>
            </a:r>
            <a:r>
              <a:rPr sz="1450">
                <a:solidFill>
                  <a:srgbClr val="0B0B0B"/>
                </a:solidFill>
                <a:latin typeface="Arial"/>
              </a:rPr>
              <a:t>22.4% (short) → 18.9% (medium) → 16.7% (long).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A78D6"/>
                </a:solidFill>
                <a:latin typeface="Arial"/>
              </a:rPr>
              <a:t>▸  </a:t>
            </a:r>
            <a:r>
              <a:rPr sz="1450" b="1">
                <a:solidFill>
                  <a:srgbClr val="0B0B0B"/>
                </a:solidFill>
                <a:latin typeface="Arial"/>
              </a:rPr>
              <a:t>But tip $ rises — </a:t>
            </a:r>
            <a:r>
              <a:rPr sz="1450">
                <a:solidFill>
                  <a:srgbClr val="0B0B0B"/>
                </a:solidFill>
                <a:latin typeface="Arial"/>
              </a:rPr>
              <a:t>$1.23 → $2.24 → $6.87 — riders tip a smaller share of a bigger fare on long trips.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A78D6"/>
                </a:solidFill>
                <a:latin typeface="Arial"/>
              </a:rPr>
              <a:t>▸  </a:t>
            </a:r>
            <a:r>
              <a:rPr sz="1450" b="1">
                <a:solidFill>
                  <a:srgbClr val="0B0B0B"/>
                </a:solidFill>
                <a:latin typeface="Arial"/>
              </a:rPr>
              <a:t>Takeaway — </a:t>
            </a:r>
            <a:r>
              <a:rPr sz="1450">
                <a:solidFill>
                  <a:srgbClr val="0B0B0B"/>
                </a:solidFill>
                <a:latin typeface="Arial"/>
              </a:rPr>
              <a:t>short-trip riders are proportionally the most generous tippers, even though the dollar amount is smallest.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5623560"/>
            <a:ext cx="3794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898781"/>
                </a:solidFill>
                <a:latin typeface="Arial"/>
              </a:rPr>
              <a:t>Columns: trip_distance → distance_bucket, tip_amount, fare_amount  ·  AVG(tip_amount/fare_amount)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CS675 — NYC Yellow Taxi Analytics at Cloud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98781"/>
                </a:solidFill>
                <a:latin typeface="Arial"/>
              </a:rPr>
              <a:t>ANALYTICS — Q4  ·  ~45S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0B0B"/>
                </a:solidFill>
                <a:latin typeface="Arial"/>
              </a:rPr>
              <a:t>Fare Efficiency by Trip Distance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005840" cy="381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23240" y="1666240"/>
            <a:ext cx="7091680" cy="4074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q4_fare_per_m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704088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18120" y="1783080"/>
            <a:ext cx="3794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A78D6"/>
                </a:solidFill>
                <a:latin typeface="Arial"/>
              </a:rPr>
              <a:t>▸  </a:t>
            </a:r>
            <a:r>
              <a:rPr sz="1450" b="1">
                <a:solidFill>
                  <a:srgbClr val="0B0B0B"/>
                </a:solidFill>
                <a:latin typeface="Arial"/>
              </a:rPr>
              <a:t>Short trips cost ~6x more per mile — </a:t>
            </a:r>
            <a:r>
              <a:rPr sz="1450">
                <a:solidFill>
                  <a:srgbClr val="0B0B0B"/>
                </a:solidFill>
                <a:latin typeface="Arial"/>
              </a:rPr>
              <a:t>$19.10/mi (short) vs. $3.07/mi (long).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A78D6"/>
                </a:solidFill>
                <a:latin typeface="Arial"/>
              </a:rPr>
              <a:t>▸  </a:t>
            </a:r>
            <a:r>
              <a:rPr sz="1450" b="1">
                <a:solidFill>
                  <a:srgbClr val="0B0B0B"/>
                </a:solidFill>
                <a:latin typeface="Arial"/>
              </a:rPr>
              <a:t>Why — </a:t>
            </a:r>
            <a:r>
              <a:rPr sz="1450">
                <a:solidFill>
                  <a:srgbClr val="0B0B0B"/>
                </a:solidFill>
                <a:latin typeface="Arial"/>
              </a:rPr>
              <a:t>the flat base fare dominates the total on short trips (avg 0.68 mi); long trips (often airport runs, per Q2) amortize it over many more miles (avg 34.8 mi).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A78D6"/>
                </a:solidFill>
                <a:latin typeface="Arial"/>
              </a:rPr>
              <a:t>▸  </a:t>
            </a:r>
            <a:r>
              <a:rPr sz="1450" b="1">
                <a:solidFill>
                  <a:srgbClr val="0B0B0B"/>
                </a:solidFill>
                <a:latin typeface="Arial"/>
              </a:rPr>
              <a:t>Ties back to Q2/Q3 — </a:t>
            </a:r>
            <a:r>
              <a:rPr sz="1450">
                <a:solidFill>
                  <a:srgbClr val="0B0B0B"/>
                </a:solidFill>
                <a:latin typeface="Arial"/>
              </a:rPr>
              <a:t>the same base-fare effect explains both the airport revenue premium and the short-trip tip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5623560"/>
            <a:ext cx="3794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898781"/>
                </a:solidFill>
                <a:latin typeface="Arial"/>
              </a:rPr>
              <a:t>Columns: trip_distance → distance_bucket, fare_amount  ·  AVG(fare_amount/trip_distance)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CS675 — NYC Yellow Taxi Analytics at Cloud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98781"/>
                </a:solidFill>
                <a:latin typeface="Arial"/>
              </a:rPr>
              <a:t>ML EXTENSION  ·  +10 BONUS  ·  ~30S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0B0B"/>
                </a:solidFill>
                <a:latin typeface="Arial"/>
              </a:rPr>
              <a:t>Predicting Trip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005840" cy="381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A78D6"/>
                </a:solidFill>
                <a:latin typeface="Arial"/>
              </a:rPr>
              <a:t>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2120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A78D6"/>
                </a:solidFill>
                <a:latin typeface="Arial"/>
              </a:rPr>
              <a:t>▸  </a:t>
            </a:r>
            <a:r>
              <a:rPr sz="1450" b="1">
                <a:solidFill>
                  <a:srgbClr val="0B0B0B"/>
                </a:solidFill>
                <a:latin typeface="Arial"/>
              </a:rPr>
              <a:t>Target — </a:t>
            </a:r>
            <a:r>
              <a:rPr sz="1450">
                <a:solidFill>
                  <a:srgbClr val="0B0B0B"/>
                </a:solidFill>
                <a:latin typeface="Arial"/>
              </a:rPr>
              <a:t>total_amount (fare + tip + tolls + surcharges) per trip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A78D6"/>
                </a:solidFill>
                <a:latin typeface="Arial"/>
              </a:rPr>
              <a:t>▸  </a:t>
            </a:r>
            <a:r>
              <a:rPr sz="1450" b="1">
                <a:solidFill>
                  <a:srgbClr val="0B0B0B"/>
                </a:solidFill>
                <a:latin typeface="Arial"/>
              </a:rPr>
              <a:t>8 features — </a:t>
            </a:r>
            <a:r>
              <a:rPr sz="1450">
                <a:solidFill>
                  <a:srgbClr val="0B0B0B"/>
                </a:solidFill>
                <a:latin typeface="Arial"/>
              </a:rPr>
              <a:t>trip_distance, pickup_hour, day_of_week, passenger_count, pickup/dropoff zone (StringIndexer), pay_credit_card, pay_cash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A78D6"/>
                </a:solidFill>
                <a:latin typeface="Arial"/>
              </a:rPr>
              <a:t>▸  </a:t>
            </a:r>
            <a:r>
              <a:rPr sz="1450" b="1">
                <a:solidFill>
                  <a:srgbClr val="0B0B0B"/>
                </a:solidFill>
                <a:latin typeface="Arial"/>
              </a:rPr>
              <a:t>3 models compared — </a:t>
            </a:r>
            <a:r>
              <a:rPr sz="1450">
                <a:solidFill>
                  <a:srgbClr val="0B0B0B"/>
                </a:solidFill>
                <a:latin typeface="Arial"/>
              </a:rPr>
              <a:t>Linear Regression (baseline), Gradient Boosted Trees, Random Forest — all trained on an 80/20 split, evaluated with RMSE + R²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09160"/>
            <a:ext cx="5212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2514E"/>
                </a:solidFill>
                <a:latin typeface="Arial"/>
              </a:rPr>
              <a:t>Winner: Random Forest — RMSE $4.44, R² 0.906 (66% lower RMSE than the linear baseline). The Streamlit UI auto-loads whichever model has the lowest saved RMSE.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01080" y="1666240"/>
            <a:ext cx="5537200" cy="4302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91640"/>
            <a:ext cx="5486400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CS675 — NYC Yellow Taxi Analytics at Cloud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98781"/>
                </a:solidFill>
                <a:latin typeface="Arial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0B0B"/>
                </a:solidFill>
                <a:latin typeface="Arial"/>
              </a:rPr>
              <a:t>Summary &amp; 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005840" cy="381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2A78D6"/>
                </a:solidFill>
                <a:latin typeface="Arial"/>
              </a:rPr>
              <a:t>▸  </a:t>
            </a:r>
            <a:r>
              <a:rPr sz="1600" b="1">
                <a:solidFill>
                  <a:srgbClr val="0B0B0B"/>
                </a:solidFill>
                <a:latin typeface="Arial"/>
              </a:rPr>
              <a:t>Full pipeline, proven at two scales — </a:t>
            </a:r>
            <a:r>
              <a:rPr sz="1600">
                <a:solidFill>
                  <a:srgbClr val="0B0B0B"/>
                </a:solidFill>
                <a:latin typeface="Arial"/>
              </a:rPr>
              <a:t>raw Parquet → cleaned data → 4 analytics queries → ML model → served prediction UI, unchanged between a 2.5M-row laptop run and a 180M-row EMR Serverless run.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2A78D6"/>
                </a:solidFill>
                <a:latin typeface="Arial"/>
              </a:rPr>
              <a:t>▸  </a:t>
            </a:r>
            <a:r>
              <a:rPr sz="1600" b="1">
                <a:solidFill>
                  <a:srgbClr val="0B0B0B"/>
                </a:solidFill>
                <a:latin typeface="Arial"/>
              </a:rPr>
              <a:t>Demand is evening-shaped, not commute-shaped — </a:t>
            </a:r>
            <a:r>
              <a:rPr sz="1600">
                <a:solidFill>
                  <a:srgbClr val="0B0B0B"/>
                </a:solidFill>
                <a:latin typeface="Arial"/>
              </a:rPr>
              <a:t>one peak at 18:00 on both weekdays and weekends.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2A78D6"/>
                </a:solidFill>
                <a:latin typeface="Arial"/>
              </a:rPr>
              <a:t>▸  </a:t>
            </a:r>
            <a:r>
              <a:rPr sz="1600" b="1">
                <a:solidFill>
                  <a:srgbClr val="0B0B0B"/>
                </a:solidFill>
                <a:latin typeface="Arial"/>
              </a:rPr>
              <a:t>Airport trips drive revenue, not volume — </a:t>
            </a:r>
            <a:r>
              <a:rPr sz="1600">
                <a:solidFill>
                  <a:srgbClr val="0B0B0B"/>
                </a:solidFill>
                <a:latin typeface="Arial"/>
              </a:rPr>
              <a:t>JFK/LGA rank #1/#2 in total revenue on far fewer trips, purely on fare-per-trip.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2A78D6"/>
                </a:solidFill>
                <a:latin typeface="Arial"/>
              </a:rPr>
              <a:t>▸  </a:t>
            </a:r>
            <a:r>
              <a:rPr sz="1600" b="1">
                <a:solidFill>
                  <a:srgbClr val="0B0B0B"/>
                </a:solidFill>
                <a:latin typeface="Arial"/>
              </a:rPr>
              <a:t>The flat base fare explains two patterns at once — </a:t>
            </a:r>
            <a:r>
              <a:rPr sz="1600">
                <a:solidFill>
                  <a:srgbClr val="0B0B0B"/>
                </a:solidFill>
                <a:latin typeface="Arial"/>
              </a:rPr>
              <a:t>why short trips tip the highest % and cost the most per mile.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2A78D6"/>
                </a:solidFill>
                <a:latin typeface="Arial"/>
              </a:rPr>
              <a:t>▸  </a:t>
            </a:r>
            <a:r>
              <a:rPr sz="1600" b="1">
                <a:solidFill>
                  <a:srgbClr val="0B0B0B"/>
                </a:solidFill>
                <a:latin typeface="Arial"/>
              </a:rPr>
              <a:t>Random Forest cut prediction error by 66%</a:t>
            </a:r>
            <a:r>
              <a:rPr sz="1600">
                <a:solidFill>
                  <a:srgbClr val="0B0B0B"/>
                </a:solidFill>
                <a:latin typeface="Arial"/>
              </a:rPr>
              <a:t> over the linear baseline (RMSE $13.22 → $4.44) and is what actually serves the UI.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2A78D6"/>
                </a:solidFill>
                <a:latin typeface="Arial"/>
              </a:rPr>
              <a:t>▸  </a:t>
            </a:r>
            <a:r>
              <a:rPr sz="1600" b="1">
                <a:solidFill>
                  <a:srgbClr val="0B0B0B"/>
                </a:solidFill>
                <a:latin typeface="Arial"/>
              </a:rPr>
              <a:t>≥ 2 course tools satisfied — </a:t>
            </a:r>
            <a:r>
              <a:rPr sz="1600">
                <a:solidFill>
                  <a:srgbClr val="0B0B0B"/>
                </a:solidFill>
                <a:latin typeface="Arial"/>
              </a:rPr>
              <a:t>PySpark, AWS Athena, AWS EMR Serverless, Terraform.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CS675 — NYC Yellow Taxi Analytics at Cloud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0B0B0B"/>
                </a:solidFill>
                <a:latin typeface="Arial"/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98781"/>
                </a:solidFill>
                <a:latin typeface="Arial"/>
              </a:rPr>
              <a:t>github.com/oomintrixx/cs675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CS675 — NYC Yellow Taxi Analytics at Cloud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98781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1509</Words>
  <Application>Microsoft Macintosh PowerPoint</Application>
  <PresentationFormat>Widescreen</PresentationFormat>
  <Paragraphs>131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Alice Chen</cp:lastModifiedBy>
  <cp:revision>2</cp:revision>
  <dcterms:created xsi:type="dcterms:W3CDTF">2013-01-27T09:14:16Z</dcterms:created>
  <dcterms:modified xsi:type="dcterms:W3CDTF">2026-08-01T18:51:53Z</dcterms:modified>
  <cp:category/>
</cp:coreProperties>
</file>